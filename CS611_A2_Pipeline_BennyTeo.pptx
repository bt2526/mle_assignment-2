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3" r:id="rId7"/>
    <p:sldId id="268" r:id="rId8"/>
    <p:sldId id="265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121" d="100"/>
          <a:sy n="121" d="100"/>
        </p:scale>
        <p:origin x="2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622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AUC</c:v>
                </c:pt>
                <c:pt idx="1">
                  <c:v>F1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0.92169999999999996</c:v>
                </c:pt>
                <c:pt idx="1">
                  <c:v>0.71350000000000002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D5-314E-986D-9876E32BBE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21B0A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622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AUC</c:v>
                </c:pt>
                <c:pt idx="1">
                  <c:v>F1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0.87119999999999997</c:v>
                </c:pt>
                <c:pt idx="1">
                  <c:v>0.69910000000000005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D5-314E-986D-9876E32BBE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185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37D9-254A-073A-5752-4BB00D26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1A16C-84DD-88D6-D44E-E6058E8EA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F11AF-B758-D9E9-A24B-C83D58DC8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AC45B-FE6D-C098-1022-495F3F0D8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45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1C7293">
              <a:alpha val="3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38160" y="4754880"/>
            <a:ext cx="1828800" cy="1828800"/>
          </a:xfrm>
          <a:prstGeom prst="ellipse">
            <a:avLst/>
          </a:prstGeom>
          <a:solidFill>
            <a:srgbClr val="21B0A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Default Prediction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dirty="0">
                <a:solidFill>
                  <a:srgbClr val="BFD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ML Pipeline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→  Selection  →  Inference  →  Monitoring  →  Governance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112014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21B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1120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7692" y="4343400"/>
            <a:ext cx="112014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21B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07692" y="4343400"/>
            <a:ext cx="1120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92424" y="4343400"/>
            <a:ext cx="1014984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21B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92424" y="4343400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61328" y="434340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21B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61328" y="43434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71840" y="4343400"/>
            <a:ext cx="1014984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21B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71840" y="4343400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Benny Teo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356" y="443049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OBJECTIVE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5023" y="3971108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1055" y="4245428"/>
            <a:ext cx="713232" cy="713232"/>
          </a:xfrm>
          <a:prstGeom prst="ellipse">
            <a:avLst/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95" y="443086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92383" y="420885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3EA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11055" y="50683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1055" y="55073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training with metrics logged onto </a:t>
            </a:r>
            <a:r>
              <a:rPr lang="en-US" sz="12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62815" y="3971108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07685C8-16C4-259E-7093-2689C1789CA2}"/>
              </a:ext>
            </a:extLst>
          </p:cNvPr>
          <p:cNvGrpSpPr/>
          <p:nvPr/>
        </p:nvGrpSpPr>
        <p:grpSpPr>
          <a:xfrm>
            <a:off x="3618847" y="4245428"/>
            <a:ext cx="713232" cy="713232"/>
            <a:chOff x="3618847" y="4245428"/>
            <a:chExt cx="713232" cy="713232"/>
          </a:xfrm>
        </p:grpSpPr>
        <p:sp>
          <p:nvSpPr>
            <p:cNvPr id="12" name="Shape 9"/>
            <p:cNvSpPr/>
            <p:nvPr/>
          </p:nvSpPr>
          <p:spPr>
            <a:xfrm>
              <a:off x="3618847" y="4245428"/>
              <a:ext cx="713232" cy="713232"/>
            </a:xfrm>
            <a:prstGeom prst="ellipse">
              <a:avLst/>
            </a:prstGeom>
            <a:solidFill>
              <a:srgbClr val="1C7293"/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04287" y="4430868"/>
              <a:ext cx="342351" cy="342351"/>
            </a:xfrm>
            <a:prstGeom prst="rect">
              <a:avLst/>
            </a:prstGeom>
          </p:spPr>
        </p:pic>
      </p:grpSp>
      <p:sp>
        <p:nvSpPr>
          <p:cNvPr id="14" name="Text 10"/>
          <p:cNvSpPr/>
          <p:nvPr/>
        </p:nvSpPr>
        <p:spPr>
          <a:xfrm>
            <a:off x="5100175" y="420885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3EA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618847" y="50683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18847" y="55073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 selection based on AUC score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70607" y="3971108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526639" y="4245428"/>
            <a:ext cx="713232" cy="713232"/>
          </a:xfrm>
          <a:prstGeom prst="ellipse">
            <a:avLst/>
          </a:prstGeom>
          <a:solidFill>
            <a:srgbClr val="21B0A0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079" y="4430868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07967" y="420885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3EA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6526639" y="50683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526639" y="55073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batch predictions with calibrated probabilities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178399" y="3971108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434431" y="4245428"/>
            <a:ext cx="713232" cy="713232"/>
          </a:xfrm>
          <a:prstGeom prst="ellipse">
            <a:avLst/>
          </a:prstGeom>
          <a:solidFill>
            <a:srgbClr val="3E6E8E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9871" y="4430868"/>
            <a:ext cx="342351" cy="34235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15759" y="420885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3EA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9434431" y="50683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Governance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434431" y="55073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&amp; CSI drift, performance monitoring, drift-triggered retrain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735183" y="5325291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deck focuses on the design decisions</a:t>
            </a:r>
            <a:endParaRPr lang="en-US" sz="17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8B3C49-2032-7695-A1B1-177CB9D4BD17}"/>
              </a:ext>
            </a:extLst>
          </p:cNvPr>
          <p:cNvSpPr txBox="1"/>
          <p:nvPr/>
        </p:nvSpPr>
        <p:spPr>
          <a:xfrm>
            <a:off x="509450" y="1046553"/>
            <a:ext cx="112771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</a:t>
            </a:r>
            <a:r>
              <a:rPr lang="en-US" sz="18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US" sz="1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whether a loan applicant will default, </a:t>
            </a: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point of application</a:t>
            </a:r>
            <a:r>
              <a:rPr lang="en-US" sz="18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credit decisions are data-driven and risk is minimized.</a:t>
            </a:r>
          </a:p>
          <a:p>
            <a:pPr marL="0" indent="0" algn="just">
              <a:buNone/>
            </a:pPr>
            <a:endParaRPr lang="en-US" sz="1800" dirty="0">
              <a:solidFill>
                <a:srgbClr val="1622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/>
            <a:r>
              <a:rPr lang="en-US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</a:t>
            </a:r>
            <a:r>
              <a:rPr lang="en-US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US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end-to-end machine learning (ML) model that performs the following: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6222E"/>
                </a:solidFill>
                <a:latin typeface="Calibri" pitchFamily="34" charset="0"/>
                <a:cs typeface="Calibri" pitchFamily="34" charset="-120"/>
              </a:rPr>
              <a:t>Train ML models, evaluates and selects the best model for storage in model registry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Retrieves best ML model to predict whether a loan applicant will default or not at the point of application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Monitors the performance and stability of the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6596" y="1332408"/>
            <a:ext cx="7918704" cy="3938886"/>
          </a:xfrm>
          <a:prstGeom prst="roundRect">
            <a:avLst>
              <a:gd name="adj" fmla="val 1975"/>
            </a:avLst>
          </a:prstGeom>
          <a:solidFill>
            <a:srgbClr val="F4F7FA"/>
          </a:solidFill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138161" y="1350696"/>
            <a:ext cx="38404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321041" y="1524432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178" y="1657569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79409" y="14695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Data pipelines (Features + Labels)</a:t>
            </a:r>
            <a:endParaRPr lang="en-US" sz="1450" dirty="0">
              <a:solidFill>
                <a:schemeClr val="accent5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8979409" y="178046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Gold, per snapshot month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1" y="2301672"/>
            <a:ext cx="38404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21041" y="2475408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4178" y="260854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9409" y="24205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(branch)</a:t>
            </a:r>
            <a:endParaRPr lang="en-US" sz="14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8979409" y="273144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once, then drift-triggered only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138161" y="3252648"/>
            <a:ext cx="38404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321041" y="3426384"/>
            <a:ext cx="512064" cy="512064"/>
          </a:xfrm>
          <a:prstGeom prst="ellipse">
            <a:avLst/>
          </a:prstGeom>
          <a:solidFill>
            <a:srgbClr val="21B0A0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178" y="3559521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79409" y="337152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</a:t>
            </a:r>
            <a:endParaRPr lang="en-US" sz="1450" dirty="0">
              <a:solidFill>
                <a:schemeClr val="accent6"/>
              </a:solidFill>
            </a:endParaRPr>
          </a:p>
        </p:txBody>
      </p:sp>
      <p:sp>
        <p:nvSpPr>
          <p:cNvPr id="23" name="Text 17"/>
          <p:cNvSpPr/>
          <p:nvPr/>
        </p:nvSpPr>
        <p:spPr>
          <a:xfrm>
            <a:off x="8979409" y="368241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performed by Champion model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138161" y="4203624"/>
            <a:ext cx="38404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321041" y="4377360"/>
            <a:ext cx="512064" cy="512064"/>
          </a:xfrm>
          <a:prstGeom prst="ellipse">
            <a:avLst/>
          </a:prstGeom>
          <a:solidFill>
            <a:srgbClr val="3E6E8E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4178" y="4510497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79409" y="432249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450" dirty="0">
              <a:solidFill>
                <a:schemeClr val="accent2"/>
              </a:solidFill>
            </a:endParaRPr>
          </a:p>
        </p:txBody>
      </p:sp>
      <p:sp>
        <p:nvSpPr>
          <p:cNvPr id="28" name="Text 21"/>
          <p:cNvSpPr/>
          <p:nvPr/>
        </p:nvSpPr>
        <p:spPr>
          <a:xfrm>
            <a:off x="8979409" y="46333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/ CSI / AUC Tracking + Monthly Report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40080" y="5349240"/>
            <a:ext cx="10908792" cy="1345474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FFF4DC3-4CDB-02F3-7175-6365F9763A42}"/>
              </a:ext>
            </a:extLst>
          </p:cNvPr>
          <p:cNvGrpSpPr/>
          <p:nvPr/>
        </p:nvGrpSpPr>
        <p:grpSpPr>
          <a:xfrm>
            <a:off x="795528" y="5747657"/>
            <a:ext cx="548640" cy="548640"/>
            <a:chOff x="868680" y="5504688"/>
            <a:chExt cx="548640" cy="548640"/>
          </a:xfrm>
        </p:grpSpPr>
        <p:sp>
          <p:nvSpPr>
            <p:cNvPr id="30" name="Shape 23"/>
            <p:cNvSpPr/>
            <p:nvPr/>
          </p:nvSpPr>
          <p:spPr>
            <a:xfrm>
              <a:off x="868680" y="5504688"/>
              <a:ext cx="548640" cy="548640"/>
            </a:xfrm>
            <a:prstGeom prst="ellipse">
              <a:avLst/>
            </a:prstGeom>
            <a:solidFill>
              <a:srgbClr val="065A82"/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31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1326" y="5647334"/>
              <a:ext cx="263347" cy="263347"/>
            </a:xfrm>
            <a:prstGeom prst="rect">
              <a:avLst/>
            </a:prstGeom>
          </p:spPr>
        </p:pic>
      </p:grpSp>
      <p:sp>
        <p:nvSpPr>
          <p:cNvPr id="32" name="Text 24"/>
          <p:cNvSpPr/>
          <p:nvPr/>
        </p:nvSpPr>
        <p:spPr>
          <a:xfrm>
            <a:off x="1554480" y="5330952"/>
            <a:ext cx="9784080" cy="1363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DAG:</a:t>
            </a:r>
            <a:r>
              <a:rPr lang="en-US" sz="1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Emphasis on Operational simplicity; </a:t>
            </a:r>
            <a:r>
              <a:rPr lang="en-US" sz="1450" b="1" dirty="0">
                <a:solidFill>
                  <a:schemeClr val="bg2">
                    <a:lumMod val="50000"/>
                  </a:schemeClr>
                </a:solidFill>
                <a:latin typeface="Cambria" pitchFamily="34" charset="0"/>
              </a:rPr>
              <a:t>Train</a:t>
            </a: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50" b="1" dirty="0">
                <a:solidFill>
                  <a:schemeClr val="accent6"/>
                </a:solidFill>
                <a:latin typeface="Cambria" pitchFamily="34" charset="0"/>
              </a:rPr>
              <a:t>Infer</a:t>
            </a: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50" b="1" dirty="0">
                <a:solidFill>
                  <a:schemeClr val="accent2"/>
                </a:solidFill>
                <a:latin typeface="Cambria" pitchFamily="34" charset="0"/>
              </a:rPr>
              <a:t>Monitor </a:t>
            </a: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enforced within every run, guaranteeing monitoring never reads stale predictions.</a:t>
            </a:r>
            <a:endParaRPr lang="en-US" sz="16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Training: 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(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Logistic Regression) are trained in parallel. </a:t>
            </a: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 will be selected based on AUC score, and monitoring will be performed subsequently.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21043E-168C-0465-3B4C-3B44E5E9272F}"/>
              </a:ext>
            </a:extLst>
          </p:cNvPr>
          <p:cNvSpPr txBox="1"/>
          <p:nvPr/>
        </p:nvSpPr>
        <p:spPr>
          <a:xfrm>
            <a:off x="509450" y="948580"/>
            <a:ext cx="11277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ML pipeline is orchestrated using Apache Airflow</a:t>
            </a:r>
            <a:endParaRPr lang="en-US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0360070-DCDD-8670-BC7D-B856026D96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30" y="1497335"/>
            <a:ext cx="7772400" cy="1845318"/>
          </a:xfrm>
          <a:prstGeom prst="rect">
            <a:avLst/>
          </a:prstGeom>
        </p:spPr>
      </p:pic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92FD6EF-CB8A-1EAE-E51F-5CAB431B3DE6}"/>
              </a:ext>
            </a:extLst>
          </p:cNvPr>
          <p:cNvSpPr/>
          <p:nvPr/>
        </p:nvSpPr>
        <p:spPr>
          <a:xfrm>
            <a:off x="338654" y="2391677"/>
            <a:ext cx="2806228" cy="730604"/>
          </a:xfrm>
          <a:prstGeom prst="round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2A47F6F-B973-4682-5721-93F1756EF583}"/>
              </a:ext>
            </a:extLst>
          </p:cNvPr>
          <p:cNvSpPr/>
          <p:nvPr/>
        </p:nvSpPr>
        <p:spPr>
          <a:xfrm>
            <a:off x="3167742" y="1609494"/>
            <a:ext cx="4746171" cy="1451129"/>
          </a:xfrm>
          <a:prstGeom prst="roundRect">
            <a:avLst/>
          </a:prstGeom>
          <a:noFill/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1AE71F9-1A6F-56F4-64FF-F4956C6848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325" y="3511755"/>
            <a:ext cx="7772400" cy="1741251"/>
          </a:xfrm>
          <a:prstGeom prst="rect">
            <a:avLst/>
          </a:prstGeom>
        </p:spPr>
      </p:pic>
      <p:sp>
        <p:nvSpPr>
          <p:cNvPr id="44" name="Freeform 43">
            <a:extLst>
              <a:ext uri="{FF2B5EF4-FFF2-40B4-BE49-F238E27FC236}">
                <a16:creationId xmlns:a16="http://schemas.microsoft.com/office/drawing/2014/main" id="{5A31862D-C451-C173-F5C7-C550B8B5D68E}"/>
              </a:ext>
            </a:extLst>
          </p:cNvPr>
          <p:cNvSpPr/>
          <p:nvPr/>
        </p:nvSpPr>
        <p:spPr>
          <a:xfrm>
            <a:off x="509449" y="3124197"/>
            <a:ext cx="7219407" cy="435324"/>
          </a:xfrm>
          <a:custGeom>
            <a:avLst/>
            <a:gdLst>
              <a:gd name="csX0" fmla="*/ 7239000 w 7239000"/>
              <a:gd name="csY0" fmla="*/ 0 h 762000"/>
              <a:gd name="csX1" fmla="*/ 4278086 w 7239000"/>
              <a:gd name="csY1" fmla="*/ 293914 h 762000"/>
              <a:gd name="csX2" fmla="*/ 827314 w 7239000"/>
              <a:gd name="csY2" fmla="*/ 250371 h 762000"/>
              <a:gd name="csX3" fmla="*/ 0 w 7239000"/>
              <a:gd name="csY3" fmla="*/ 762000 h 76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39000" h="762000">
                <a:moveTo>
                  <a:pt x="7239000" y="0"/>
                </a:moveTo>
                <a:cubicBezTo>
                  <a:pt x="6292850" y="126093"/>
                  <a:pt x="5346700" y="252186"/>
                  <a:pt x="4278086" y="293914"/>
                </a:cubicBezTo>
                <a:cubicBezTo>
                  <a:pt x="3209472" y="335643"/>
                  <a:pt x="1540328" y="172357"/>
                  <a:pt x="827314" y="250371"/>
                </a:cubicBezTo>
                <a:cubicBezTo>
                  <a:pt x="114300" y="328385"/>
                  <a:pt x="266700" y="658586"/>
                  <a:pt x="0" y="76200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B8E8ADE-1DF7-3AA3-93A0-7373C5CC1927}"/>
              </a:ext>
            </a:extLst>
          </p:cNvPr>
          <p:cNvSpPr/>
          <p:nvPr/>
        </p:nvSpPr>
        <p:spPr>
          <a:xfrm>
            <a:off x="306325" y="3601801"/>
            <a:ext cx="2806228" cy="1194775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BBE27606-6BBB-2D31-9E7A-944BD26ACEC4}"/>
              </a:ext>
            </a:extLst>
          </p:cNvPr>
          <p:cNvSpPr/>
          <p:nvPr/>
        </p:nvSpPr>
        <p:spPr>
          <a:xfrm>
            <a:off x="3258857" y="3554755"/>
            <a:ext cx="4701318" cy="1631628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88036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3046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Dataset: Spans Jan 23 to Dec 24. Based on application date, data from Jun 24 onwards, has </a:t>
            </a:r>
            <a:r>
              <a:rPr lang="en-US" sz="1300" i="1" u="sng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no</a:t>
            </a: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 labels. Dates stated below are based on label / observed date.  </a:t>
            </a:r>
            <a:endParaRPr lang="en-US" sz="13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BC53B19-4847-80C8-2CA8-97BC68151BFE}"/>
              </a:ext>
            </a:extLst>
          </p:cNvPr>
          <p:cNvGrpSpPr/>
          <p:nvPr/>
        </p:nvGrpSpPr>
        <p:grpSpPr>
          <a:xfrm>
            <a:off x="640079" y="1191127"/>
            <a:ext cx="4445017" cy="841248"/>
            <a:chOff x="640080" y="1380308"/>
            <a:chExt cx="4236720" cy="841248"/>
          </a:xfrm>
        </p:grpSpPr>
        <p:sp>
          <p:nvSpPr>
            <p:cNvPr id="5" name="Shape 3"/>
            <p:cNvSpPr/>
            <p:nvPr/>
          </p:nvSpPr>
          <p:spPr>
            <a:xfrm>
              <a:off x="640080" y="1380308"/>
              <a:ext cx="4236720" cy="841248"/>
            </a:xfrm>
            <a:prstGeom prst="roundRect">
              <a:avLst>
                <a:gd name="adj" fmla="val 6522"/>
              </a:avLst>
            </a:prstGeom>
            <a:solidFill>
              <a:srgbClr val="065A82"/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640080" y="1499180"/>
              <a:ext cx="422243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Train · 10 </a:t>
              </a:r>
              <a:r>
                <a:rPr lang="en-US" sz="1400" b="1" dirty="0" err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mth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40080" y="1837508"/>
              <a:ext cx="422243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E8F2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 23 → Apr 24</a:t>
              </a:r>
              <a:endParaRPr lang="en-US" sz="95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3E6E7BF-4C41-8327-435F-A53F51D5F71E}"/>
              </a:ext>
            </a:extLst>
          </p:cNvPr>
          <p:cNvGrpSpPr/>
          <p:nvPr/>
        </p:nvGrpSpPr>
        <p:grpSpPr>
          <a:xfrm>
            <a:off x="5191479" y="1191127"/>
            <a:ext cx="1504242" cy="841248"/>
            <a:chOff x="4968892" y="1380308"/>
            <a:chExt cx="1504242" cy="841248"/>
          </a:xfrm>
        </p:grpSpPr>
        <p:sp>
          <p:nvSpPr>
            <p:cNvPr id="8" name="Shape 6"/>
            <p:cNvSpPr/>
            <p:nvPr/>
          </p:nvSpPr>
          <p:spPr>
            <a:xfrm>
              <a:off x="4968892" y="1380308"/>
              <a:ext cx="1504242" cy="841248"/>
            </a:xfrm>
            <a:prstGeom prst="roundRect">
              <a:avLst>
                <a:gd name="adj" fmla="val 6522"/>
              </a:avLst>
            </a:prstGeom>
            <a:solidFill>
              <a:srgbClr val="1C7293"/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4968892" y="1499180"/>
              <a:ext cx="150424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Test · 2 </a:t>
              </a:r>
              <a:r>
                <a:rPr lang="en-US" sz="1400" b="1" dirty="0" err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mth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968892" y="1837508"/>
              <a:ext cx="149134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E8F2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May 24 → Jun 24</a:t>
              </a:r>
              <a:endParaRPr lang="en-US" sz="95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84C0318-3511-35AB-B541-5EBC102B58C6}"/>
              </a:ext>
            </a:extLst>
          </p:cNvPr>
          <p:cNvGrpSpPr/>
          <p:nvPr/>
        </p:nvGrpSpPr>
        <p:grpSpPr>
          <a:xfrm>
            <a:off x="6819217" y="1191127"/>
            <a:ext cx="1504242" cy="841248"/>
            <a:chOff x="6652668" y="1380308"/>
            <a:chExt cx="1504242" cy="841248"/>
          </a:xfrm>
        </p:grpSpPr>
        <p:sp>
          <p:nvSpPr>
            <p:cNvPr id="11" name="Shape 9"/>
            <p:cNvSpPr/>
            <p:nvPr/>
          </p:nvSpPr>
          <p:spPr>
            <a:xfrm>
              <a:off x="6652668" y="1380308"/>
              <a:ext cx="1504242" cy="841248"/>
            </a:xfrm>
            <a:prstGeom prst="roundRect">
              <a:avLst>
                <a:gd name="adj" fmla="val 6522"/>
              </a:avLst>
            </a:prstGeom>
            <a:solidFill>
              <a:srgbClr val="21B0A0"/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6652668" y="1499180"/>
              <a:ext cx="150424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OOT1 · 2 </a:t>
              </a:r>
              <a:r>
                <a:rPr lang="en-US" sz="1400" b="1" dirty="0" err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mth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652668" y="1837508"/>
              <a:ext cx="150424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E8F2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 24 → Aug 24</a:t>
              </a:r>
              <a:endParaRPr lang="en-US" sz="95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640080" y="2151247"/>
            <a:ext cx="5303520" cy="219456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8F4FC87-4516-985B-F834-0D8348E3E4C7}"/>
              </a:ext>
            </a:extLst>
          </p:cNvPr>
          <p:cNvGrpSpPr/>
          <p:nvPr/>
        </p:nvGrpSpPr>
        <p:grpSpPr>
          <a:xfrm>
            <a:off x="822960" y="2233543"/>
            <a:ext cx="566928" cy="566928"/>
            <a:chOff x="868680" y="3300984"/>
            <a:chExt cx="566928" cy="566928"/>
          </a:xfrm>
        </p:grpSpPr>
        <p:sp>
          <p:nvSpPr>
            <p:cNvPr id="17" name="Shape 15"/>
            <p:cNvSpPr/>
            <p:nvPr/>
          </p:nvSpPr>
          <p:spPr>
            <a:xfrm>
              <a:off x="868680" y="3300984"/>
              <a:ext cx="566928" cy="566928"/>
            </a:xfrm>
            <a:prstGeom prst="ellipse">
              <a:avLst/>
            </a:prstGeom>
            <a:solidFill>
              <a:srgbClr val="065A82"/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6081" y="3448385"/>
              <a:ext cx="272125" cy="272125"/>
            </a:xfrm>
            <a:prstGeom prst="rect">
              <a:avLst/>
            </a:prstGeom>
          </p:spPr>
        </p:pic>
      </p:grpSp>
      <p:sp>
        <p:nvSpPr>
          <p:cNvPr id="19" name="Text 16"/>
          <p:cNvSpPr/>
          <p:nvPr/>
        </p:nvSpPr>
        <p:spPr>
          <a:xfrm>
            <a:off x="1572768" y="233412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 Test / OOT Split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7720" y="2791118"/>
            <a:ext cx="4892040" cy="1554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shuffling — prevents leakage of the future into the past.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OOT1 is the final pre-deployment checkpoint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champion model.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Considers recency to capture changing trends / model degradation (if any).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45352" y="2151247"/>
            <a:ext cx="5303520" cy="2194560"/>
          </a:xfrm>
          <a:prstGeom prst="roundRect">
            <a:avLst>
              <a:gd name="adj" fmla="val 3415"/>
            </a:avLst>
          </a:prstGeom>
          <a:solidFill>
            <a:srgbClr val="0B2A4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638F141-8680-1A7A-203D-7B304AECDCBD}"/>
              </a:ext>
            </a:extLst>
          </p:cNvPr>
          <p:cNvGrpSpPr/>
          <p:nvPr/>
        </p:nvGrpSpPr>
        <p:grpSpPr>
          <a:xfrm>
            <a:off x="6460236" y="2233542"/>
            <a:ext cx="566928" cy="566928"/>
            <a:chOff x="6473952" y="3300984"/>
            <a:chExt cx="566928" cy="566928"/>
          </a:xfrm>
        </p:grpSpPr>
        <p:sp>
          <p:nvSpPr>
            <p:cNvPr id="22" name="Shape 19"/>
            <p:cNvSpPr/>
            <p:nvPr/>
          </p:nvSpPr>
          <p:spPr>
            <a:xfrm>
              <a:off x="6473952" y="3300984"/>
              <a:ext cx="566928" cy="566928"/>
            </a:xfrm>
            <a:prstGeom prst="ellipse">
              <a:avLst/>
            </a:prstGeom>
            <a:solidFill>
              <a:srgbClr val="1C7293"/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1353" y="3448385"/>
              <a:ext cx="272125" cy="272125"/>
            </a:xfrm>
            <a:prstGeom prst="rect">
              <a:avLst/>
            </a:prstGeom>
          </p:spPr>
        </p:pic>
      </p:grpSp>
      <p:sp>
        <p:nvSpPr>
          <p:cNvPr id="25" name="Text 21"/>
          <p:cNvSpPr/>
          <p:nvPr/>
        </p:nvSpPr>
        <p:spPr>
          <a:xfrm>
            <a:off x="6473952" y="2919341"/>
            <a:ext cx="4846320" cy="1417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Label Lag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With MOB=6, labels will be revealed only 6 months later.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r>
              <a:rPr lang="en-US" sz="1400" b="1" dirty="0">
                <a:solidFill>
                  <a:srgbClr val="00B0F0"/>
                </a:solidFill>
              </a:rPr>
              <a:t>Training Gate</a:t>
            </a:r>
          </a:p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Training is first triggered on 1 Sep 24 (bootstrap month), training on dataset with labels from Jun 23 to Apr 24.</a:t>
            </a:r>
          </a:p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Retraining to be performed manually only after proper root cause analysis.</a:t>
            </a: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7" name="Shape 23"/>
          <p:cNvSpPr/>
          <p:nvPr/>
        </p:nvSpPr>
        <p:spPr>
          <a:xfrm>
            <a:off x="640080" y="4653860"/>
            <a:ext cx="10908792" cy="1703941"/>
          </a:xfrm>
          <a:prstGeom prst="roundRect">
            <a:avLst>
              <a:gd name="adj" fmla="val 6087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910468" y="5132189"/>
            <a:ext cx="10424160" cy="1112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Logistic Regression: </a:t>
            </a:r>
            <a:r>
              <a:rPr lang="en-US" sz="1200" dirty="0"/>
              <a:t>Higher Interpretability, Computationally more efficient.</a:t>
            </a:r>
          </a:p>
          <a:p>
            <a:endParaRPr lang="en-US" sz="1200" dirty="0"/>
          </a:p>
          <a:p>
            <a:r>
              <a:rPr lang="en-US" sz="1400" b="1" dirty="0" err="1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XGBoost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: </a:t>
            </a:r>
            <a:r>
              <a:rPr lang="en-US" sz="1200" dirty="0">
                <a:latin typeface="Calibri" pitchFamily="34" charset="0"/>
                <a:cs typeface="Calibri" pitchFamily="34" charset="-120"/>
              </a:rPr>
              <a:t>Captures non-linear patterns better, Strong performance on structured/ tabular data, Robust to class imbalance, missing values and outliers.</a:t>
            </a:r>
            <a:endParaRPr lang="en-US" sz="1200" dirty="0"/>
          </a:p>
          <a:p>
            <a:endParaRPr lang="en-US" sz="1400" b="1" dirty="0">
              <a:solidFill>
                <a:srgbClr val="065A8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400" b="1" dirty="0" err="1">
                <a:latin typeface="Calibri" pitchFamily="34" charset="0"/>
                <a:cs typeface="Calibri" pitchFamily="34" charset="-120"/>
              </a:rPr>
              <a:t>XGBoost</a:t>
            </a:r>
            <a:r>
              <a:rPr lang="en-US" sz="1400" b="1" dirty="0">
                <a:latin typeface="Calibri" pitchFamily="34" charset="0"/>
                <a:cs typeface="Calibri" pitchFamily="34" charset="-120"/>
              </a:rPr>
              <a:t> (0.92) scored higher than Logistic Regression (0.87) during our model training, hence selected as Champion model.</a:t>
            </a: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8E0B849C-C3C3-C7D5-5550-43C529430F75}"/>
              </a:ext>
            </a:extLst>
          </p:cNvPr>
          <p:cNvSpPr/>
          <p:nvPr/>
        </p:nvSpPr>
        <p:spPr>
          <a:xfrm>
            <a:off x="7315200" y="233412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Considerations</a:t>
            </a:r>
            <a:endParaRPr lang="en-US" sz="1600" dirty="0">
              <a:solidFill>
                <a:schemeClr val="bg2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C217BC5-73B2-04A6-2318-534EAD68DF8A}"/>
              </a:ext>
            </a:extLst>
          </p:cNvPr>
          <p:cNvGrpSpPr/>
          <p:nvPr/>
        </p:nvGrpSpPr>
        <p:grpSpPr>
          <a:xfrm>
            <a:off x="822960" y="4592695"/>
            <a:ext cx="577487" cy="566928"/>
            <a:chOff x="3618847" y="4245428"/>
            <a:chExt cx="713232" cy="713232"/>
          </a:xfrm>
        </p:grpSpPr>
        <p:sp>
          <p:nvSpPr>
            <p:cNvPr id="33" name="Shape 9">
              <a:extLst>
                <a:ext uri="{FF2B5EF4-FFF2-40B4-BE49-F238E27FC236}">
                  <a16:creationId xmlns:a16="http://schemas.microsoft.com/office/drawing/2014/main" id="{8C428477-0D46-1B8B-68E4-39321BFD19DD}"/>
                </a:ext>
              </a:extLst>
            </p:cNvPr>
            <p:cNvSpPr/>
            <p:nvPr/>
          </p:nvSpPr>
          <p:spPr>
            <a:xfrm>
              <a:off x="3618847" y="4245428"/>
              <a:ext cx="713232" cy="713232"/>
            </a:xfrm>
            <a:prstGeom prst="ellipse">
              <a:avLst/>
            </a:prstGeom>
            <a:solidFill>
              <a:srgbClr val="1C7293"/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34" name="Image 1" descr="preencoded.png">
              <a:extLst>
                <a:ext uri="{FF2B5EF4-FFF2-40B4-BE49-F238E27FC236}">
                  <a16:creationId xmlns:a16="http://schemas.microsoft.com/office/drawing/2014/main" id="{B28FDD6A-6A30-0E16-21D2-68C86E25B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04287" y="4430868"/>
              <a:ext cx="342351" cy="342351"/>
            </a:xfrm>
            <a:prstGeom prst="rect">
              <a:avLst/>
            </a:prstGeom>
          </p:spPr>
        </p:pic>
      </p:grpSp>
      <p:sp>
        <p:nvSpPr>
          <p:cNvPr id="36" name="Text 16">
            <a:extLst>
              <a:ext uri="{FF2B5EF4-FFF2-40B4-BE49-F238E27FC236}">
                <a16:creationId xmlns:a16="http://schemas.microsoft.com/office/drawing/2014/main" id="{2EDF5459-EDBF-4BBA-0AC6-B81A045CFF36}"/>
              </a:ext>
            </a:extLst>
          </p:cNvPr>
          <p:cNvSpPr/>
          <p:nvPr/>
        </p:nvSpPr>
        <p:spPr>
          <a:xfrm>
            <a:off x="1550593" y="4686963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</a:t>
            </a:r>
            <a:endParaRPr lang="en-US" sz="160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92AB817-3969-EF9C-689D-19019324FA2F}"/>
              </a:ext>
            </a:extLst>
          </p:cNvPr>
          <p:cNvGrpSpPr/>
          <p:nvPr/>
        </p:nvGrpSpPr>
        <p:grpSpPr>
          <a:xfrm>
            <a:off x="8446955" y="1191127"/>
            <a:ext cx="3104965" cy="841248"/>
            <a:chOff x="10039517" y="1380308"/>
            <a:chExt cx="1512403" cy="841248"/>
          </a:xfrm>
        </p:grpSpPr>
        <p:sp>
          <p:nvSpPr>
            <p:cNvPr id="41" name="Shape 9">
              <a:extLst>
                <a:ext uri="{FF2B5EF4-FFF2-40B4-BE49-F238E27FC236}">
                  <a16:creationId xmlns:a16="http://schemas.microsoft.com/office/drawing/2014/main" id="{92594A36-F23C-69FB-D4F0-8777CEDBD3E3}"/>
                </a:ext>
              </a:extLst>
            </p:cNvPr>
            <p:cNvSpPr/>
            <p:nvPr/>
          </p:nvSpPr>
          <p:spPr>
            <a:xfrm>
              <a:off x="10039517" y="1380308"/>
              <a:ext cx="1504242" cy="841248"/>
            </a:xfrm>
            <a:prstGeom prst="roundRect">
              <a:avLst>
                <a:gd name="adj" fmla="val 6522"/>
              </a:avLst>
            </a:prstGeom>
            <a:solidFill>
              <a:schemeClr val="accent5">
                <a:lumMod val="75000"/>
              </a:schemeClr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10">
              <a:extLst>
                <a:ext uri="{FF2B5EF4-FFF2-40B4-BE49-F238E27FC236}">
                  <a16:creationId xmlns:a16="http://schemas.microsoft.com/office/drawing/2014/main" id="{CFEF50C8-AF5F-7BA6-205B-1442351F363E}"/>
                </a:ext>
              </a:extLst>
            </p:cNvPr>
            <p:cNvSpPr/>
            <p:nvPr/>
          </p:nvSpPr>
          <p:spPr>
            <a:xfrm>
              <a:off x="10039517" y="1499180"/>
              <a:ext cx="1512403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For inference · 4 </a:t>
              </a:r>
              <a:r>
                <a:rPr lang="en-US" sz="1400" b="1" dirty="0" err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mth</a:t>
              </a:r>
              <a:endParaRPr lang="en-US" sz="1400" dirty="0"/>
            </a:p>
          </p:txBody>
        </p:sp>
        <p:sp>
          <p:nvSpPr>
            <p:cNvPr id="43" name="Text 11">
              <a:extLst>
                <a:ext uri="{FF2B5EF4-FFF2-40B4-BE49-F238E27FC236}">
                  <a16:creationId xmlns:a16="http://schemas.microsoft.com/office/drawing/2014/main" id="{23DED0CD-58E5-C7E7-8E6D-4D393954E777}"/>
                </a:ext>
              </a:extLst>
            </p:cNvPr>
            <p:cNvSpPr/>
            <p:nvPr/>
          </p:nvSpPr>
          <p:spPr>
            <a:xfrm>
              <a:off x="10039517" y="1837508"/>
              <a:ext cx="151240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E8F2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Sep 24 → Dec 24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3657" y="1182185"/>
            <a:ext cx="5179423" cy="4371705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2480" y="1383356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26" y="1526002"/>
            <a:ext cx="263347" cy="2633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78280" y="14199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AUC?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2004539"/>
            <a:ext cx="4857206" cy="3492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Independence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Measures model’s ability to rank-order defaulters above non-defaulters, instead of setting a threshold which may differ during risk-averse periods vs risk-seeking periods.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to determine default will be a business decision, i.e. allows business to adjust its risk appetite independently of the model.</a:t>
            </a:r>
          </a:p>
          <a:p>
            <a:pPr algn="just"/>
            <a:endParaRPr lang="en-US" sz="125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Robust against Class imbalance (~20% label rate)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class distribution of dataset.</a:t>
            </a:r>
          </a:p>
          <a:p>
            <a:pPr algn="just"/>
            <a:endParaRPr lang="en-US" sz="1250" b="1" dirty="0">
              <a:solidFill>
                <a:srgbClr val="065A82"/>
              </a:solidFill>
              <a:latin typeface="Calibri" pitchFamily="34" charset="0"/>
              <a:cs typeface="Calibri" pitchFamily="34" charset="-120"/>
            </a:endParaRPr>
          </a:p>
          <a:p>
            <a:pPr algn="just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Fair comparison between both models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outputs scores based on decision tree margins instead of probabilities of default, unlike Logistic Regression (output true probabilities). </a:t>
            </a:r>
            <a:endParaRPr lang="en-US" sz="1250" dirty="0">
              <a:solidFill>
                <a:prstClr val="black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to be applied to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after selection for production use.</a:t>
            </a:r>
          </a:p>
          <a:p>
            <a:pPr algn="just"/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16168" y="1237049"/>
            <a:ext cx="5605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(OOT1) — </a:t>
            </a:r>
            <a:r>
              <a:rPr lang="en-US" sz="1600" b="1" dirty="0" err="1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r>
              <a:rPr lang="en-US" sz="1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vs Logistic Regression</a:t>
            </a:r>
            <a:endParaRPr lang="en-US" sz="16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775010441"/>
              </p:ext>
            </p:extLst>
          </p:nvPr>
        </p:nvGraphicFramePr>
        <p:xfrm>
          <a:off x="5916168" y="1648529"/>
          <a:ext cx="5605272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5916168" y="4571999"/>
            <a:ext cx="5605272" cy="925286"/>
          </a:xfrm>
          <a:prstGeom prst="roundRect">
            <a:avLst>
              <a:gd name="adj" fmla="val 4516"/>
            </a:avLst>
          </a:prstGeom>
          <a:solidFill>
            <a:srgbClr val="EAF7F4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6C7AF6-ECA4-0FBF-E393-10D4766DA856}"/>
              </a:ext>
            </a:extLst>
          </p:cNvPr>
          <p:cNvGrpSpPr/>
          <p:nvPr/>
        </p:nvGrpSpPr>
        <p:grpSpPr>
          <a:xfrm>
            <a:off x="6080760" y="4727447"/>
            <a:ext cx="530352" cy="530352"/>
            <a:chOff x="765048" y="4800600"/>
            <a:chExt cx="530352" cy="530352"/>
          </a:xfrm>
        </p:grpSpPr>
        <p:sp>
          <p:nvSpPr>
            <p:cNvPr id="16" name="Shape 12"/>
            <p:cNvSpPr/>
            <p:nvPr/>
          </p:nvSpPr>
          <p:spPr>
            <a:xfrm>
              <a:off x="765048" y="4800600"/>
              <a:ext cx="530352" cy="530352"/>
            </a:xfrm>
            <a:prstGeom prst="ellipse">
              <a:avLst/>
            </a:prstGeom>
            <a:solidFill>
              <a:srgbClr val="21B0A0"/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7" name="Image 1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940" y="4938492"/>
              <a:ext cx="254569" cy="254569"/>
            </a:xfrm>
            <a:prstGeom prst="rect">
              <a:avLst/>
            </a:prstGeom>
          </p:spPr>
        </p:pic>
      </p:grpSp>
      <p:sp>
        <p:nvSpPr>
          <p:cNvPr id="18" name="Text 13"/>
          <p:cNvSpPr/>
          <p:nvPr/>
        </p:nvSpPr>
        <p:spPr>
          <a:xfrm>
            <a:off x="6775704" y="4663439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on AUC (0.9217 vs 0.8712)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is selected as the Champion model.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465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MONITORING. DRIFT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03520" cy="1517904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682496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182989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 — Model Drift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96579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model's predicted-score distribution shifted vs the reference month (validated)? 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463040"/>
            <a:ext cx="5303520" cy="1517904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73952" y="1682496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353" y="182989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CSI — Feature Drift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51092" y="2296579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top 15 features' distribution shifted vs the reference month (validated)? 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113747"/>
            <a:ext cx="5303520" cy="2725785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45352" y="3122676"/>
            <a:ext cx="5303520" cy="2725785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C47F72-D204-3AFB-7B7A-D07988D6FC6D}"/>
              </a:ext>
            </a:extLst>
          </p:cNvPr>
          <p:cNvSpPr txBox="1"/>
          <p:nvPr/>
        </p:nvSpPr>
        <p:spPr>
          <a:xfrm>
            <a:off x="509450" y="1046553"/>
            <a:ext cx="11277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model and features behavior post-deployment (inference)</a:t>
            </a:r>
            <a:endParaRPr lang="en-US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2E5B1CE7-6FE4-DDAC-F2F3-371F3CF4BFCD}"/>
              </a:ext>
            </a:extLst>
          </p:cNvPr>
          <p:cNvSpPr/>
          <p:nvPr/>
        </p:nvSpPr>
        <p:spPr>
          <a:xfrm>
            <a:off x="640080" y="5929013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event of PSI / CSI exceeding threshold (0.25), the data science team will be notified via email by Apache Airflow. Investigation / Root cause analysis to be performed by the data science team before deciding to retrain the model.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EDF79B9-124E-DE5E-5575-875AD80DE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642" y="3212610"/>
            <a:ext cx="5056116" cy="252805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10390F4-2D54-FC4E-4402-0CBA75115A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822" y="3200400"/>
            <a:ext cx="5080536" cy="25402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F36A7-B1B7-7A7E-6162-3EBCF1636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9E84D7-B557-82A9-4993-9B2FEE3954E9}"/>
              </a:ext>
            </a:extLst>
          </p:cNvPr>
          <p:cNvSpPr/>
          <p:nvPr/>
        </p:nvSpPr>
        <p:spPr>
          <a:xfrm>
            <a:off x="640080" y="384048"/>
            <a:ext cx="10881360" cy="465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MONITORING. PERFORMANCE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EAFE442-1E7F-6D78-42EE-DA63AEA6AFD0}"/>
              </a:ext>
            </a:extLst>
          </p:cNvPr>
          <p:cNvSpPr/>
          <p:nvPr/>
        </p:nvSpPr>
        <p:spPr>
          <a:xfrm>
            <a:off x="868680" y="1483090"/>
            <a:ext cx="10125141" cy="2412581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29DDDA-EAB8-6E82-0E7F-7DC5380FE22A}"/>
              </a:ext>
            </a:extLst>
          </p:cNvPr>
          <p:cNvGrpSpPr/>
          <p:nvPr/>
        </p:nvGrpSpPr>
        <p:grpSpPr>
          <a:xfrm>
            <a:off x="1059391" y="1613269"/>
            <a:ext cx="566928" cy="566928"/>
            <a:chOff x="3380652" y="1702547"/>
            <a:chExt cx="566928" cy="566928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0619FF6C-7866-9478-D534-93607341A089}"/>
                </a:ext>
              </a:extLst>
            </p:cNvPr>
            <p:cNvSpPr/>
            <p:nvPr/>
          </p:nvSpPr>
          <p:spPr>
            <a:xfrm>
              <a:off x="3380652" y="1702547"/>
              <a:ext cx="566928" cy="566928"/>
            </a:xfrm>
            <a:prstGeom prst="ellipse">
              <a:avLst/>
            </a:prstGeom>
            <a:solidFill>
              <a:srgbClr val="065A82"/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preencoded.png">
              <a:extLst>
                <a:ext uri="{FF2B5EF4-FFF2-40B4-BE49-F238E27FC236}">
                  <a16:creationId xmlns:a16="http://schemas.microsoft.com/office/drawing/2014/main" id="{41CC85C2-B5F7-E88E-8CDA-13E11FBDB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28053" y="1849948"/>
              <a:ext cx="272125" cy="272125"/>
            </a:xfrm>
            <a:prstGeom prst="rect">
              <a:avLst/>
            </a:prstGeom>
          </p:spPr>
        </p:pic>
      </p:grpSp>
      <p:sp>
        <p:nvSpPr>
          <p:cNvPr id="18" name="Shape 14">
            <a:extLst>
              <a:ext uri="{FF2B5EF4-FFF2-40B4-BE49-F238E27FC236}">
                <a16:creationId xmlns:a16="http://schemas.microsoft.com/office/drawing/2014/main" id="{A7417A4A-4297-3FB1-9923-BBB7106C8973}"/>
              </a:ext>
            </a:extLst>
          </p:cNvPr>
          <p:cNvSpPr/>
          <p:nvPr/>
        </p:nvSpPr>
        <p:spPr>
          <a:xfrm>
            <a:off x="868680" y="4061371"/>
            <a:ext cx="4927517" cy="2412581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F2456B-B0BF-78A3-BFDB-74753B2F8CC5}"/>
              </a:ext>
            </a:extLst>
          </p:cNvPr>
          <p:cNvSpPr txBox="1"/>
          <p:nvPr/>
        </p:nvSpPr>
        <p:spPr>
          <a:xfrm>
            <a:off x="571632" y="941629"/>
            <a:ext cx="11277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model performance post-deployment (inference)</a:t>
            </a: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8494D59E-1A98-8F28-0D7C-D39E5CF3C8E1}"/>
              </a:ext>
            </a:extLst>
          </p:cNvPr>
          <p:cNvSpPr/>
          <p:nvPr/>
        </p:nvSpPr>
        <p:spPr>
          <a:xfrm>
            <a:off x="1817689" y="16917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– AUC and Brier Score</a:t>
            </a:r>
            <a:endParaRPr lang="en-US" sz="16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DE4BE784-5A57-752D-11A5-28C1427BE823}"/>
              </a:ext>
            </a:extLst>
          </p:cNvPr>
          <p:cNvSpPr/>
          <p:nvPr/>
        </p:nvSpPr>
        <p:spPr>
          <a:xfrm>
            <a:off x="1054268" y="2184080"/>
            <a:ext cx="9802918" cy="1632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Measures rank-ordering capability, i.e. how clean is the separation between defaulters and non-defaulters.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Benchmark set as OOT1; Trigger alerts if drops by 0.05.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400" dirty="0"/>
          </a:p>
          <a:p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Measures the closeness of predicted probabilities to actual outcomes, i.e. how accurate and confident is the model’s estimates?</a:t>
            </a:r>
          </a:p>
          <a:p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Benchmark set as OOT1; Trigger alerts if increase by 0.05 (lower the better).</a:t>
            </a:r>
          </a:p>
          <a:p>
            <a:r>
              <a:rPr lang="en-US" sz="1200" dirty="0" err="1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XGBoost</a:t>
            </a: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 uses calibrated probabilities, while Logistic Regression uses raw probabilities.</a:t>
            </a:r>
            <a:endParaRPr lang="en-US" sz="140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B18C9FFC-E424-DD4D-A2F9-A849A3A928F2}"/>
              </a:ext>
            </a:extLst>
          </p:cNvPr>
          <p:cNvSpPr/>
          <p:nvPr/>
        </p:nvSpPr>
        <p:spPr>
          <a:xfrm>
            <a:off x="6210215" y="4061371"/>
            <a:ext cx="4927517" cy="2412581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D4597B0-535A-A25C-9494-3E5622DFA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96" y="4113390"/>
            <a:ext cx="4617083" cy="230854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A74B5EC-F3C1-4271-CD74-989FED88E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6737" y="4113390"/>
            <a:ext cx="4617084" cy="230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527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0">
            <a:extLst>
              <a:ext uri="{FF2B5EF4-FFF2-40B4-BE49-F238E27FC236}">
                <a16:creationId xmlns:a16="http://schemas.microsoft.com/office/drawing/2014/main" id="{9FB439C2-8441-980B-586F-3E8472B6192E}"/>
              </a:ext>
            </a:extLst>
          </p:cNvPr>
          <p:cNvSpPr/>
          <p:nvPr/>
        </p:nvSpPr>
        <p:spPr>
          <a:xfrm>
            <a:off x="1435607" y="3205865"/>
            <a:ext cx="3882627" cy="2921875"/>
          </a:xfrm>
          <a:prstGeom prst="roundRect">
            <a:avLst>
              <a:gd name="adj" fmla="val 2254"/>
            </a:avLst>
          </a:prstGeom>
          <a:solidFill>
            <a:srgbClr val="F4F7FA"/>
          </a:solidFill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· REPORTING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7736" y="1170432"/>
            <a:ext cx="5029200" cy="1867058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6336" y="1399032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737" y="154643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0424" y="14356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Evidently AI Reports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6336" y="1947672"/>
            <a:ext cx="4617720" cy="1258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 Reports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polished, interactive HTML layer for presentation (PSI gauge, per-feature CSI, data summary) – allows high-level appreciation of model’s drift, features’ drift, data statistics such as mean, min, max, etc.</a:t>
            </a: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68626" y="1170432"/>
            <a:ext cx="4730602" cy="4957308"/>
          </a:xfrm>
          <a:prstGeom prst="roundRect">
            <a:avLst>
              <a:gd name="adj" fmla="val 2254"/>
            </a:avLst>
          </a:prstGeom>
          <a:solidFill>
            <a:srgbClr val="F4F7FA"/>
          </a:solidFill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305E3A6-3488-1889-3B10-4127CEE74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264" y="3330746"/>
            <a:ext cx="3609358" cy="270322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C04895B-0E84-CA32-ECDA-799AADC57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026" y="1279374"/>
            <a:ext cx="4435367" cy="47435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14353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5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Ensures proper management of deployed models in production environment with clear SOPs for evaluation, retraining and deployment.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19"/>
            <a:ext cx="3520440" cy="372749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2748" y="2045282"/>
            <a:ext cx="27477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 Framework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743199"/>
            <a:ext cx="3063240" cy="2834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Model Registry</a:t>
            </a:r>
            <a:endParaRPr lang="en-US" sz="14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Management of models with versions tracked using </a:t>
            </a:r>
            <a:r>
              <a:rPr lang="en-US" sz="1200" dirty="0" err="1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MLflow</a:t>
            </a:r>
            <a:endParaRPr lang="en-US" sz="1200" dirty="0">
              <a:solidFill>
                <a:srgbClr val="5A6B7B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Ensures reproducibility, auditability and history tracking</a:t>
            </a:r>
          </a:p>
          <a:p>
            <a:pPr algn="just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Model Selection</a:t>
            </a:r>
            <a:endParaRPr lang="en-US" sz="14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Champion is selected based on highest AUC during training stage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Model’s performance monitored after defined period, and alerts will be triggered if threshold is exceeded</a:t>
            </a:r>
          </a:p>
          <a:p>
            <a:pPr algn="just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Artifact Management</a:t>
            </a:r>
            <a:endParaRPr lang="en-US" sz="14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Model artifacts (</a:t>
            </a:r>
            <a:r>
              <a:rPr lang="en-US" sz="1200" dirty="0" err="1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pkl</a:t>
            </a: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 files) are stored in established and standardized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5A6B7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79392" y="1874520"/>
            <a:ext cx="3520440" cy="3727494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0799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18704" y="1874519"/>
            <a:ext cx="3520440" cy="3727493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4730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</a:t>
            </a:r>
            <a:endParaRPr lang="en-US" sz="16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CB337AC-379F-0711-9775-0DAE72B15ED5}"/>
              </a:ext>
            </a:extLst>
          </p:cNvPr>
          <p:cNvGrpSpPr/>
          <p:nvPr/>
        </p:nvGrpSpPr>
        <p:grpSpPr>
          <a:xfrm>
            <a:off x="745236" y="2027414"/>
            <a:ext cx="548640" cy="548640"/>
            <a:chOff x="868680" y="4754880"/>
            <a:chExt cx="548640" cy="548640"/>
          </a:xfrm>
        </p:grpSpPr>
        <p:sp>
          <p:nvSpPr>
            <p:cNvPr id="24" name="Shape 22"/>
            <p:cNvSpPr/>
            <p:nvPr/>
          </p:nvSpPr>
          <p:spPr>
            <a:xfrm>
              <a:off x="868680" y="4754880"/>
              <a:ext cx="548640" cy="548640"/>
            </a:xfrm>
            <a:prstGeom prst="ellipse">
              <a:avLst/>
            </a:prstGeom>
            <a:solidFill>
              <a:srgbClr val="21B0A0"/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326" y="4897526"/>
              <a:ext cx="263347" cy="263347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0D619E1-6C49-C414-22F6-47F1EECEC67C}"/>
              </a:ext>
            </a:extLst>
          </p:cNvPr>
          <p:cNvGrpSpPr/>
          <p:nvPr/>
        </p:nvGrpSpPr>
        <p:grpSpPr>
          <a:xfrm>
            <a:off x="4389120" y="2045282"/>
            <a:ext cx="566928" cy="566928"/>
            <a:chOff x="6473952" y="1682496"/>
            <a:chExt cx="566928" cy="566928"/>
          </a:xfrm>
        </p:grpSpPr>
        <p:sp>
          <p:nvSpPr>
            <p:cNvPr id="34" name="Shape 7">
              <a:extLst>
                <a:ext uri="{FF2B5EF4-FFF2-40B4-BE49-F238E27FC236}">
                  <a16:creationId xmlns:a16="http://schemas.microsoft.com/office/drawing/2014/main" id="{0C6B1F13-0D46-5002-34C6-71BA00C48BF3}"/>
                </a:ext>
              </a:extLst>
            </p:cNvPr>
            <p:cNvSpPr/>
            <p:nvPr/>
          </p:nvSpPr>
          <p:spPr>
            <a:xfrm>
              <a:off x="6473952" y="1682496"/>
              <a:ext cx="566928" cy="566928"/>
            </a:xfrm>
            <a:prstGeom prst="ellipse">
              <a:avLst/>
            </a:prstGeom>
            <a:solidFill>
              <a:srgbClr val="1C7293"/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35" name="Image 1" descr="preencoded.png">
              <a:extLst>
                <a:ext uri="{FF2B5EF4-FFF2-40B4-BE49-F238E27FC236}">
                  <a16:creationId xmlns:a16="http://schemas.microsoft.com/office/drawing/2014/main" id="{C039DE75-F766-FBA3-33F7-DE4BBB1AD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1353" y="1829897"/>
              <a:ext cx="272125" cy="272125"/>
            </a:xfrm>
            <a:prstGeom prst="rect">
              <a:avLst/>
            </a:prstGeom>
          </p:spPr>
        </p:pic>
      </p:grpSp>
      <p:sp>
        <p:nvSpPr>
          <p:cNvPr id="37" name="Text 6">
            <a:extLst>
              <a:ext uri="{FF2B5EF4-FFF2-40B4-BE49-F238E27FC236}">
                <a16:creationId xmlns:a16="http://schemas.microsoft.com/office/drawing/2014/main" id="{4D5D2F5F-AFB7-FE91-5734-C0EEA002A8DC}"/>
              </a:ext>
            </a:extLst>
          </p:cNvPr>
          <p:cNvSpPr/>
          <p:nvPr/>
        </p:nvSpPr>
        <p:spPr>
          <a:xfrm>
            <a:off x="5065776" y="2053328"/>
            <a:ext cx="27477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SOP</a:t>
            </a:r>
            <a:endParaRPr lang="en-US" sz="14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3BDA989-6C20-7909-FC51-92A08F3A0609}"/>
              </a:ext>
            </a:extLst>
          </p:cNvPr>
          <p:cNvGrpSpPr/>
          <p:nvPr/>
        </p:nvGrpSpPr>
        <p:grpSpPr>
          <a:xfrm>
            <a:off x="8042148" y="2078884"/>
            <a:ext cx="548640" cy="548640"/>
            <a:chOff x="792480" y="1383356"/>
            <a:chExt cx="548640" cy="548640"/>
          </a:xfrm>
        </p:grpSpPr>
        <p:sp>
          <p:nvSpPr>
            <p:cNvPr id="38" name="Shape 7">
              <a:extLst>
                <a:ext uri="{FF2B5EF4-FFF2-40B4-BE49-F238E27FC236}">
                  <a16:creationId xmlns:a16="http://schemas.microsoft.com/office/drawing/2014/main" id="{88280BFB-34F2-0D91-4E49-8E077DB4B51D}"/>
                </a:ext>
              </a:extLst>
            </p:cNvPr>
            <p:cNvSpPr/>
            <p:nvPr/>
          </p:nvSpPr>
          <p:spPr>
            <a:xfrm>
              <a:off x="792480" y="1383356"/>
              <a:ext cx="548640" cy="548640"/>
            </a:xfrm>
            <a:prstGeom prst="ellipse">
              <a:avLst/>
            </a:prstGeom>
            <a:solidFill>
              <a:srgbClr val="065A82"/>
            </a:solidFill>
            <a:ln/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39" name="Image 0" descr="preencoded.png">
              <a:extLst>
                <a:ext uri="{FF2B5EF4-FFF2-40B4-BE49-F238E27FC236}">
                  <a16:creationId xmlns:a16="http://schemas.microsoft.com/office/drawing/2014/main" id="{B444D401-7E10-F07B-229C-AA3D8F0A6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5126" y="1526002"/>
              <a:ext cx="263347" cy="263347"/>
            </a:xfrm>
            <a:prstGeom prst="rect">
              <a:avLst/>
            </a:prstGeom>
          </p:spPr>
        </p:pic>
      </p:grpSp>
      <p:sp>
        <p:nvSpPr>
          <p:cNvPr id="41" name="Text 6">
            <a:extLst>
              <a:ext uri="{FF2B5EF4-FFF2-40B4-BE49-F238E27FC236}">
                <a16:creationId xmlns:a16="http://schemas.microsoft.com/office/drawing/2014/main" id="{CA52F1A4-23B9-7508-5720-E52C2CEE34EC}"/>
              </a:ext>
            </a:extLst>
          </p:cNvPr>
          <p:cNvSpPr/>
          <p:nvPr/>
        </p:nvSpPr>
        <p:spPr>
          <a:xfrm>
            <a:off x="8691372" y="2093629"/>
            <a:ext cx="27477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</a:t>
            </a:r>
            <a:endParaRPr lang="en-US" sz="1400" dirty="0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887AA788-6A54-81C0-71D7-2A3B4C028995}"/>
              </a:ext>
            </a:extLst>
          </p:cNvPr>
          <p:cNvSpPr/>
          <p:nvPr/>
        </p:nvSpPr>
        <p:spPr>
          <a:xfrm>
            <a:off x="4530852" y="2743200"/>
            <a:ext cx="3063240" cy="2853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Criteria for Model Retraining</a:t>
            </a:r>
            <a:endParaRPr lang="en-US" sz="14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Model’s drift and performance will be continuously monitored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PSI / CSI drift &gt; 0.25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AUC score drops by 0.05 or Brier score increases by 0.05 from defined date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Alert will be triggered to notify Data Science team for investigation / root cause analysis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Onus to retrain model lies in Head of Data Science (manual)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Business decisions such as regulation changes, requirement changes, e.g. integration of new tools or products.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5A6B7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09F8EA70-8435-05E1-9F82-5A5C6E8918BA}"/>
              </a:ext>
            </a:extLst>
          </p:cNvPr>
          <p:cNvSpPr/>
          <p:nvPr/>
        </p:nvSpPr>
        <p:spPr>
          <a:xfrm>
            <a:off x="8147304" y="2752691"/>
            <a:ext cx="3063240" cy="2825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Inference</a:t>
            </a:r>
            <a:endParaRPr lang="en-US" sz="14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Batch inference (monthly), threshold set to 0.5 with the flexibility to modify based on macro-economic conditions. </a:t>
            </a:r>
          </a:p>
          <a:p>
            <a:pPr algn="just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Deployment</a:t>
            </a:r>
            <a:endParaRPr lang="en-US" sz="14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Orchestrated via Apache Airflow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Supported by Data Science team with the flexibility to conduct various deployment strategies such as Blue/ Green, Canary, A/B or Shadow deployment.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5A6B7B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5A6B7B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065A82">
              <a:alpha val="4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C7293">
              <a:alpha val="3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316046"/>
            <a:ext cx="9144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21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C55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2112264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89" y="2259665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64208" y="202996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 ML pipeline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664208" y="24048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B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</a:t>
            </a:r>
            <a:r>
              <a:rPr lang="en-US" sz="1200" dirty="0">
                <a:solidFill>
                  <a:srgbClr val="BFD6E6"/>
                </a:solidFill>
                <a:latin typeface="Calibri" pitchFamily="34" charset="0"/>
                <a:cs typeface="Calibri" pitchFamily="34" charset="-120"/>
              </a:rPr>
              <a:t>→ Model pipeline → Inference → Monitor  </a:t>
            </a:r>
          </a:p>
        </p:txBody>
      </p:sp>
      <p:sp>
        <p:nvSpPr>
          <p:cNvPr id="11" name="Shape 8"/>
          <p:cNvSpPr/>
          <p:nvPr/>
        </p:nvSpPr>
        <p:spPr>
          <a:xfrm>
            <a:off x="6309360" y="187452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C55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10528" y="2112264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929" y="2259665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42048" y="202996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242048" y="24048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 selection independent of macro-economic conditions 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315468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C55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32688" y="3392424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089" y="3539825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64208" y="331012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</a:rPr>
              <a:t>Automated alerts 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664208" y="36850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 triggers if model degrades over time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09360" y="315468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C55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510528" y="3392424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929" y="3539825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42048" y="331012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242048" y="36850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batch inference to predict default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31520" y="44348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C55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932688" y="4672584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089" y="4819985"/>
            <a:ext cx="272125" cy="27212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64208" y="459028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Tracking 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1664208" y="49651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PSI, CSI, AUC and Brier Scores are monitored continuously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309360" y="44348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C55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6510528" y="4672584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7929" y="4819985"/>
            <a:ext cx="272125" cy="27212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42048" y="459028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simplicity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7242048" y="49651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DAG to orchestrate pipeline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Benny Teo   ·  Credit Default ML Pipeline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3051</TotalTime>
  <Words>1196</Words>
  <Application>Microsoft Macintosh PowerPoint</Application>
  <PresentationFormat>Widescreen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CS611 MLE Assignment 2 — Credit Default ML Pipeline</dc:title>
  <dc:subject>PptxGenJS Presentation</dc:subject>
  <dc:creator>Benny Teo</dc:creator>
  <cp:lastModifiedBy>Benny TEO Kok Xin</cp:lastModifiedBy>
  <cp:revision>81</cp:revision>
  <dcterms:created xsi:type="dcterms:W3CDTF">2026-06-18T17:11:06Z</dcterms:created>
  <dcterms:modified xsi:type="dcterms:W3CDTF">2026-06-21T07:00:14Z</dcterms:modified>
</cp:coreProperties>
</file>